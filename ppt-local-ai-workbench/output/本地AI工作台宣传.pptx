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9052560" y="-914400"/>
            <a:ext cx="4389120" cy="4389120"/>
          </a:xfrm>
          <a:prstGeom prst="arc">
            <a:avLst/>
          </a:prstGeom>
          <a:noFill/>
          <a:ln w="15240">
            <a:solidFill>
              <a:srgbClr val="38D5F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-914400" y="4480560"/>
            <a:ext cx="3840480" cy="3840480"/>
          </a:xfrm>
          <a:prstGeom prst="arc">
            <a:avLst/>
          </a:prstGeom>
          <a:noFill/>
          <a:ln w="12700">
            <a:solidFill>
              <a:srgbClr val="67F2B0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355080"/>
            <a:ext cx="11155680" cy="0"/>
          </a:xfrm>
          <a:prstGeom prst="line">
            <a:avLst/>
          </a:prstGeom>
          <a:noFill/>
          <a:ln w="10160">
            <a:solidFill>
              <a:srgbClr val="24445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035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7F2B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PRIVATE AI OPERATING SYSTEM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1170432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7FAFC"/>
                </a:solidFill>
              </a:rPr>
              <a:t>本地 AI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7FAFC"/>
                </a:solidFill>
              </a:rPr>
              <a:t>工作台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94944" y="3310128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9C8"/>
                </a:solidFill>
              </a:rPr>
              <a:t>把微信语音、图片、文档和本地大模型接进同一个可控闭环。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13232" y="4096512"/>
            <a:ext cx="768096" cy="347472"/>
          </a:xfrm>
          <a:prstGeom prst="roundRect">
            <a:avLst>
              <a:gd name="adj" fmla="val 21053"/>
            </a:avLst>
          </a:prstGeom>
          <a:solidFill>
            <a:srgbClr val="38D5FF">
              <a:alpha val="20000"/>
            </a:srgbClr>
          </a:solidFill>
          <a:ln w="12700">
            <a:solidFill>
              <a:srgbClr val="38D5FF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4183380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7FAFC"/>
                </a:solidFill>
              </a:rPr>
              <a:t>MLX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1627632" y="4096512"/>
            <a:ext cx="1152144" cy="347472"/>
          </a:xfrm>
          <a:prstGeom prst="roundRect">
            <a:avLst>
              <a:gd name="adj" fmla="val 21053"/>
            </a:avLst>
          </a:prstGeom>
          <a:solidFill>
            <a:srgbClr val="67F2B0">
              <a:alpha val="20000"/>
            </a:srgbClr>
          </a:solidFill>
          <a:ln w="12700">
            <a:solidFill>
              <a:srgbClr val="67F2B0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46504" y="418338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7FAFC"/>
                </a:solidFill>
              </a:rPr>
              <a:t>OpenClaw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2935224" y="4096512"/>
            <a:ext cx="713232" cy="347472"/>
          </a:xfrm>
          <a:prstGeom prst="roundRect">
            <a:avLst>
              <a:gd name="adj" fmla="val 21053"/>
            </a:avLst>
          </a:prstGeom>
          <a:solidFill>
            <a:srgbClr val="FFB45C">
              <a:alpha val="20000"/>
            </a:srgbClr>
          </a:solidFill>
          <a:ln w="12700">
            <a:solidFill>
              <a:srgbClr val="FFB45C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4096" y="418338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7FAFC"/>
                </a:solidFill>
              </a:rPr>
              <a:t>n8n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3794760" y="4096512"/>
            <a:ext cx="1499616" cy="347472"/>
          </a:xfrm>
          <a:prstGeom prst="roundRect">
            <a:avLst>
              <a:gd name="adj" fmla="val 21053"/>
            </a:avLst>
          </a:prstGeom>
          <a:solidFill>
            <a:srgbClr val="6C8CFF">
              <a:alpha val="20000"/>
            </a:srgbClr>
          </a:solidFill>
          <a:ln w="12700">
            <a:solidFill>
              <a:srgbClr val="6C8CFF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4183380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7FAFC"/>
                </a:solidFill>
              </a:rPr>
              <a:t>Paperless-ngx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7223760" y="1984248"/>
            <a:ext cx="2468880" cy="2468880"/>
          </a:xfrm>
          <a:prstGeom prst="ellipse">
            <a:avLst/>
          </a:prstGeom>
          <a:solidFill>
            <a:srgbClr val="0E2134"/>
          </a:solidFill>
          <a:ln w="17780">
            <a:solidFill>
              <a:srgbClr val="38D5FF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9288" y="283464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AF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458200" y="3218688"/>
            <a:ext cx="-1856232" cy="-1874520"/>
          </a:xfrm>
          <a:prstGeom prst="line">
            <a:avLst/>
          </a:prstGeom>
          <a:noFill/>
          <a:ln w="12700">
            <a:solidFill>
              <a:srgbClr val="67F2B0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234440"/>
            <a:ext cx="402336" cy="402336"/>
          </a:xfrm>
          <a:prstGeom prst="ellipse">
            <a:avLst/>
          </a:prstGeom>
          <a:solidFill>
            <a:srgbClr val="67F2B0"/>
          </a:solidFill>
          <a:ln w="12700">
            <a:solidFill>
              <a:srgbClr val="67F2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709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9C8"/>
                </a:solidFill>
              </a:rPr>
              <a:t>微信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458200" y="3218688"/>
            <a:ext cx="2075688" cy="-1719072"/>
          </a:xfrm>
          <a:prstGeom prst="line">
            <a:avLst/>
          </a:prstGeom>
          <a:noFill/>
          <a:ln w="12700">
            <a:solidFill>
              <a:srgbClr val="6C8CFF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0" y="1389888"/>
            <a:ext cx="402336" cy="402336"/>
          </a:xfrm>
          <a:prstGeom prst="ellipse">
            <a:avLst/>
          </a:prstGeom>
          <a:solidFill>
            <a:srgbClr val="6C8CFF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94976" y="1865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9C8"/>
                </a:solidFill>
              </a:rPr>
              <a:t>文档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458200" y="3218688"/>
            <a:ext cx="2487168" cy="1691640"/>
          </a:xfrm>
          <a:prstGeom prst="line">
            <a:avLst/>
          </a:prstGeom>
          <a:noFill/>
          <a:ln w="12700">
            <a:solidFill>
              <a:srgbClr val="C8FF5A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44200" y="4800600"/>
            <a:ext cx="402336" cy="402336"/>
          </a:xfrm>
          <a:prstGeom prst="ellipse">
            <a:avLst/>
          </a:prstGeom>
          <a:solidFill>
            <a:srgbClr val="C8FF5A"/>
          </a:solidFill>
          <a:ln w="12700">
            <a:solidFill>
              <a:srgbClr val="C8FF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06456" y="52760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9C8"/>
                </a:solidFill>
              </a:rPr>
              <a:t>检索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458200" y="3218688"/>
            <a:ext cx="-1901952" cy="1965960"/>
          </a:xfrm>
          <a:prstGeom prst="line">
            <a:avLst/>
          </a:prstGeom>
          <a:noFill/>
          <a:ln w="12700">
            <a:solidFill>
              <a:srgbClr val="FFB45C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5074920"/>
            <a:ext cx="402336" cy="402336"/>
          </a:xfrm>
          <a:prstGeom prst="ellipse">
            <a:avLst/>
          </a:prstGeom>
          <a:solidFill>
            <a:srgbClr val="FFB45C"/>
          </a:solidFill>
          <a:ln w="12700">
            <a:solidFill>
              <a:srgbClr val="FFB4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7336" y="55504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9C8"/>
                </a:solidFill>
              </a:rPr>
              <a:t>模型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458200" y="3218688"/>
            <a:ext cx="155448" cy="-2267712"/>
          </a:xfrm>
          <a:prstGeom prst="line">
            <a:avLst/>
          </a:prstGeom>
          <a:noFill/>
          <a:ln w="12700">
            <a:solidFill>
              <a:srgbClr val="FF6FAE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841248"/>
            <a:ext cx="402336" cy="402336"/>
          </a:xfrm>
          <a:prstGeom prst="ellipse">
            <a:avLst/>
          </a:prstGeom>
          <a:solidFill>
            <a:srgbClr val="FF6FAE"/>
          </a:solidFill>
          <a:ln w="12700">
            <a:solidFill>
              <a:srgbClr val="FF6F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74736" y="13167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9C8"/>
                </a:solidFill>
              </a:rPr>
              <a:t>自动化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458200" y="3218688"/>
            <a:ext cx="18288" cy="2633472"/>
          </a:xfrm>
          <a:prstGeom prst="line">
            <a:avLst/>
          </a:prstGeom>
          <a:noFill/>
          <a:ln w="12700">
            <a:solidFill>
              <a:srgbClr val="38D5FF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5742432"/>
            <a:ext cx="402336" cy="402336"/>
          </a:xfrm>
          <a:prstGeom prst="ellipse">
            <a:avLst/>
          </a:prstGeom>
          <a:solidFill>
            <a:srgbClr val="38D5FF"/>
          </a:solidFill>
          <a:ln w="12700">
            <a:solidFill>
              <a:srgbClr val="38D5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37576" y="6217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9C8"/>
                </a:solidFill>
              </a:rPr>
              <a:t>归档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94944" y="6144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9C8"/>
                </a:solidFill>
              </a:rPr>
              <a:t>宣传介绍 ·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B"/>
          </a:solidFill>
          <a:ln w="12700">
            <a:solidFill>
              <a:srgbClr val="0C1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9052560" y="-914400"/>
            <a:ext cx="4389120" cy="4389120"/>
          </a:xfrm>
          <a:prstGeom prst="arc">
            <a:avLst/>
          </a:prstGeom>
          <a:noFill/>
          <a:ln w="15240">
            <a:solidFill>
              <a:srgbClr val="38D5F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-914400" y="4480560"/>
            <a:ext cx="3840480" cy="3840480"/>
          </a:xfrm>
          <a:prstGeom prst="arc">
            <a:avLst/>
          </a:prstGeom>
          <a:noFill/>
          <a:ln w="12700">
            <a:solidFill>
              <a:srgbClr val="67F2B0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355080"/>
            <a:ext cx="11155680" cy="0"/>
          </a:xfrm>
          <a:prstGeom prst="line">
            <a:avLst/>
          </a:prstGeom>
          <a:noFill/>
          <a:ln w="10160">
            <a:solidFill>
              <a:srgbClr val="24445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7665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</a:rPr>
              <a:t>信息散落，知识就会变慢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9C8"/>
                </a:solidFill>
              </a:rPr>
              <a:t>语音、图片、文档、模型和自动化工具各自为政，最终让检索和复用变成体力活。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201168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67F2B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203704"/>
            <a:ext cx="164592" cy="164592"/>
          </a:xfrm>
          <a:prstGeom prst="ellipse">
            <a:avLst/>
          </a:prstGeom>
          <a:solidFill>
            <a:srgbClr val="67F2B0"/>
          </a:solidFill>
          <a:ln w="12700">
            <a:solidFill>
              <a:srgbClr val="67F2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18541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微信语音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207008" y="24414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聊天里沉没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2999232" y="2404872"/>
            <a:ext cx="2670048" cy="0"/>
          </a:xfrm>
          <a:prstGeom prst="line">
            <a:avLst/>
          </a:prstGeom>
          <a:noFill/>
          <a:ln w="17145">
            <a:solidFill>
              <a:srgbClr val="67F2B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989320" y="22219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无法自动归档 / 难以全文检索 / 缺少来源标签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22960" y="3090672"/>
            <a:ext cx="201168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FFB45C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236976"/>
            <a:ext cx="164592" cy="164592"/>
          </a:xfrm>
          <a:prstGeom prst="ellipse">
            <a:avLst/>
          </a:prstGeom>
          <a:solidFill>
            <a:srgbClr val="FFB45C"/>
          </a:solidFill>
          <a:ln w="12700">
            <a:solidFill>
              <a:srgbClr val="FFB4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321868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会议录音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207008" y="34747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只剩文件名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2999232" y="3438144"/>
            <a:ext cx="2670048" cy="0"/>
          </a:xfrm>
          <a:prstGeom prst="line">
            <a:avLst/>
          </a:prstGeom>
          <a:noFill/>
          <a:ln w="17145">
            <a:solidFill>
              <a:srgbClr val="FFB45C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989320" y="325526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无法自动归档 / 难以全文检索 / 缺少来源标签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22960" y="4123944"/>
            <a:ext cx="201168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6C8CFF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4270248"/>
            <a:ext cx="164592" cy="164592"/>
          </a:xfrm>
          <a:prstGeom prst="ellipse">
            <a:avLst/>
          </a:prstGeom>
          <a:solidFill>
            <a:srgbClr val="6C8CFF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42519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本地文档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207008" y="450799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没有统一入口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999232" y="4471416"/>
            <a:ext cx="2670048" cy="0"/>
          </a:xfrm>
          <a:prstGeom prst="line">
            <a:avLst/>
          </a:prstGeom>
          <a:noFill/>
          <a:ln w="17145">
            <a:solidFill>
              <a:srgbClr val="6C8CFF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989320" y="42885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无法自动归档 / 难以全文检索 / 缺少来源标签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822960" y="55046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5A"/>
                </a:solidFill>
              </a:rPr>
              <a:t>痛点不是模型不够强，而是信息没有进入同一条流水线。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64240" y="6199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 AI WORKBENCH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9052560" y="-914400"/>
            <a:ext cx="4389120" cy="4389120"/>
          </a:xfrm>
          <a:prstGeom prst="arc">
            <a:avLst/>
          </a:prstGeom>
          <a:noFill/>
          <a:ln w="15240">
            <a:solidFill>
              <a:srgbClr val="38D5F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-914400" y="4480560"/>
            <a:ext cx="3840480" cy="3840480"/>
          </a:xfrm>
          <a:prstGeom prst="arc">
            <a:avLst/>
          </a:prstGeom>
          <a:noFill/>
          <a:ln w="12700">
            <a:solidFill>
              <a:srgbClr val="67F2B0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355080"/>
            <a:ext cx="11155680" cy="0"/>
          </a:xfrm>
          <a:prstGeom prst="line">
            <a:avLst/>
          </a:prstGeom>
          <a:noFill/>
          <a:ln w="10160">
            <a:solidFill>
              <a:srgbClr val="24445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7665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</a:rPr>
              <a:t>一台 Mac，形成私有 AI 闭环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9C8"/>
                </a:solidFill>
              </a:rPr>
              <a:t>从接收、处理、归档到检索，全链路在本机可观察、可替换、可扩展。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1572768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67F2B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935224"/>
            <a:ext cx="164592" cy="164592"/>
          </a:xfrm>
          <a:prstGeom prst="ellipse">
            <a:avLst/>
          </a:prstGeom>
          <a:solidFill>
            <a:srgbClr val="67F2B0"/>
          </a:solidFill>
          <a:ln w="12700">
            <a:solidFill>
              <a:srgbClr val="67F2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91693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接收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069848" y="317296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OpenClaw / n8n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2368296" y="3136392"/>
            <a:ext cx="475488" cy="0"/>
          </a:xfrm>
          <a:prstGeom prst="line">
            <a:avLst/>
          </a:prstGeom>
          <a:noFill/>
          <a:ln w="17145">
            <a:solidFill>
              <a:srgbClr val="67F2B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53512" y="2788920"/>
            <a:ext cx="1572768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FFB45C">
                <a:alpha val="9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2935224"/>
            <a:ext cx="164592" cy="164592"/>
          </a:xfrm>
          <a:prstGeom prst="ellipse">
            <a:avLst/>
          </a:prstGeom>
          <a:solidFill>
            <a:srgbClr val="FFB45C"/>
          </a:solidFill>
          <a:ln w="12700">
            <a:solidFill>
              <a:srgbClr val="FFB4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91693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处理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3337560" y="317296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ASR / 清洗 / 任务记录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4636008" y="3136392"/>
            <a:ext cx="475488" cy="0"/>
          </a:xfrm>
          <a:prstGeom prst="line">
            <a:avLst/>
          </a:prstGeom>
          <a:noFill/>
          <a:ln w="17145">
            <a:solidFill>
              <a:srgbClr val="FFB45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21224" y="2788920"/>
            <a:ext cx="1572768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38D5FF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30952" y="2935224"/>
            <a:ext cx="164592" cy="164592"/>
          </a:xfrm>
          <a:prstGeom prst="ellipse">
            <a:avLst/>
          </a:prstGeom>
          <a:solidFill>
            <a:srgbClr val="38D5FF"/>
          </a:solidFill>
          <a:ln w="12700">
            <a:solidFill>
              <a:srgbClr val="38D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5272" y="291693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理解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605272" y="317296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MLX 本地模型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6903720" y="3136392"/>
            <a:ext cx="475488" cy="0"/>
          </a:xfrm>
          <a:prstGeom prst="line">
            <a:avLst/>
          </a:prstGeom>
          <a:noFill/>
          <a:ln w="17145">
            <a:solidFill>
              <a:srgbClr val="38D5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88936" y="2788920"/>
            <a:ext cx="1572768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6C8CFF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98664" y="2935224"/>
            <a:ext cx="164592" cy="164592"/>
          </a:xfrm>
          <a:prstGeom prst="ellipse">
            <a:avLst/>
          </a:prstGeom>
          <a:solidFill>
            <a:srgbClr val="6C8CFF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72984" y="291693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沉淀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7872984" y="317296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Paperless-ngx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9171432" y="3136392"/>
            <a:ext cx="475488" cy="0"/>
          </a:xfrm>
          <a:prstGeom prst="line">
            <a:avLst/>
          </a:prstGeom>
          <a:noFill/>
          <a:ln w="17145">
            <a:solidFill>
              <a:srgbClr val="6C8CF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56648" y="2788920"/>
            <a:ext cx="1572768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C8FF5A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66376" y="2935224"/>
            <a:ext cx="164592" cy="164592"/>
          </a:xfrm>
          <a:prstGeom prst="ellipse">
            <a:avLst/>
          </a:prstGeom>
          <a:solidFill>
            <a:srgbClr val="C8FF5A"/>
          </a:solidFill>
          <a:ln w="12700">
            <a:solidFill>
              <a:srgbClr val="C8FF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0696" y="291693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复用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140696" y="317296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全文检索 / 来源分类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960120" y="501091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D5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2039112" y="5212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7FAFC"/>
                </a:solidFill>
              </a:rPr>
              <a:t>核心环节串成闭环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4069080" y="501091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7F2B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5148072" y="5212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7FAFC"/>
                </a:solidFill>
              </a:rPr>
              <a:t>来源自动分类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7178040" y="5010912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4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8257032" y="5212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7FAFC"/>
                </a:solidFill>
              </a:rPr>
              <a:t>本地工作台统一承载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11064240" y="6199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58368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 AI WORKBENCH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B"/>
          </a:solidFill>
          <a:ln w="12700">
            <a:solidFill>
              <a:srgbClr val="0C1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9052560" y="-914400"/>
            <a:ext cx="4389120" cy="4389120"/>
          </a:xfrm>
          <a:prstGeom prst="arc">
            <a:avLst/>
          </a:prstGeom>
          <a:noFill/>
          <a:ln w="15240">
            <a:solidFill>
              <a:srgbClr val="38D5F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-914400" y="4480560"/>
            <a:ext cx="3840480" cy="3840480"/>
          </a:xfrm>
          <a:prstGeom prst="arc">
            <a:avLst/>
          </a:prstGeom>
          <a:noFill/>
          <a:ln w="12700">
            <a:solidFill>
              <a:srgbClr val="67F2B0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355080"/>
            <a:ext cx="11155680" cy="0"/>
          </a:xfrm>
          <a:prstGeom prst="line">
            <a:avLst/>
          </a:prstGeom>
          <a:noFill/>
          <a:ln w="10160">
            <a:solidFill>
              <a:srgbClr val="24445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7665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</a:rPr>
              <a:t>架构不是堆工具，而是标准化数据流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9C8"/>
                </a:solidFill>
              </a:rPr>
              <a:t>每个组件只负责一件事：接收、编排、转写、理解、归档。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67F2B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975104"/>
            <a:ext cx="164592" cy="164592"/>
          </a:xfrm>
          <a:prstGeom prst="ellipse">
            <a:avLst/>
          </a:prstGeom>
          <a:solidFill>
            <a:srgbClr val="67F2B0"/>
          </a:solidFill>
          <a:ln w="12700">
            <a:solidFill>
              <a:srgbClr val="67F2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1956816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微信 / 文件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207008" y="221284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语音、图片、文档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2743200" y="1417320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38D5FF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52928" y="1563624"/>
            <a:ext cx="164592" cy="164592"/>
          </a:xfrm>
          <a:prstGeom prst="ellipse">
            <a:avLst/>
          </a:prstGeom>
          <a:solidFill>
            <a:srgbClr val="38D5FF"/>
          </a:solidFill>
          <a:ln w="12700">
            <a:solidFill>
              <a:srgbClr val="38D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1545336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OpenClaw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127248" y="180136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消息入口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2743200" y="2542032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FFB45C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52928" y="2688336"/>
            <a:ext cx="164592" cy="164592"/>
          </a:xfrm>
          <a:prstGeom prst="ellipse">
            <a:avLst/>
          </a:prstGeom>
          <a:solidFill>
            <a:srgbClr val="FFB45C"/>
          </a:solidFill>
          <a:ln w="12700">
            <a:solidFill>
              <a:srgbClr val="FFB4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7248" y="267004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n8n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127248" y="2926080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编排与通知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4754880" y="1993392"/>
            <a:ext cx="150876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C8FF5A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139696"/>
            <a:ext cx="164592" cy="164592"/>
          </a:xfrm>
          <a:prstGeom prst="ellipse">
            <a:avLst/>
          </a:prstGeom>
          <a:solidFill>
            <a:srgbClr val="C8FF5A"/>
          </a:solidFill>
          <a:ln w="12700">
            <a:solidFill>
              <a:srgbClr val="C8FF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12140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kb API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5138928" y="2377440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任务提交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6720840" y="1417320"/>
            <a:ext cx="169164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FF6FAE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30568" y="1563624"/>
            <a:ext cx="164592" cy="164592"/>
          </a:xfrm>
          <a:prstGeom prst="ellipse">
            <a:avLst/>
          </a:prstGeom>
          <a:solidFill>
            <a:srgbClr val="FF6FAE"/>
          </a:solidFill>
          <a:ln w="12700">
            <a:solidFill>
              <a:srgbClr val="FF6F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04888" y="154533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ASR 流水线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104888" y="1801368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转写 / 文档化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6720840" y="2542032"/>
            <a:ext cx="169164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38D5FF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2688336"/>
            <a:ext cx="164592" cy="164592"/>
          </a:xfrm>
          <a:prstGeom prst="ellipse">
            <a:avLst/>
          </a:prstGeom>
          <a:solidFill>
            <a:srgbClr val="38D5FF"/>
          </a:solidFill>
          <a:ln w="12700">
            <a:solidFill>
              <a:srgbClr val="38D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04888" y="2670048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MLX 模型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104888" y="2926080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摘要 / 纪要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9144000" y="1993392"/>
            <a:ext cx="178308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6C8CFF">
                <a:alpha val="9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53728" y="2139696"/>
            <a:ext cx="164592" cy="164592"/>
          </a:xfrm>
          <a:prstGeom prst="ellipse">
            <a:avLst/>
          </a:prstGeom>
          <a:solidFill>
            <a:srgbClr val="6C8CFF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28048" y="2121408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Paperless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9528048" y="2377440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归档 / OCR / 检索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2340864" y="2121408"/>
            <a:ext cx="356616" cy="-402336"/>
          </a:xfrm>
          <a:prstGeom prst="line">
            <a:avLst/>
          </a:prstGeom>
          <a:noFill/>
          <a:ln w="17145">
            <a:solidFill>
              <a:srgbClr val="67F2B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340864" y="2121408"/>
            <a:ext cx="356616" cy="731520"/>
          </a:xfrm>
          <a:prstGeom prst="line">
            <a:avLst/>
          </a:prstGeom>
          <a:noFill/>
          <a:ln w="17145">
            <a:solidFill>
              <a:srgbClr val="67F2B0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343400" y="1828800"/>
            <a:ext cx="365760" cy="384048"/>
          </a:xfrm>
          <a:prstGeom prst="line">
            <a:avLst/>
          </a:prstGeom>
          <a:noFill/>
          <a:ln w="17145">
            <a:solidFill>
              <a:srgbClr val="38D5F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343400" y="2852928"/>
            <a:ext cx="365760" cy="-493776"/>
          </a:xfrm>
          <a:prstGeom prst="line">
            <a:avLst/>
          </a:prstGeom>
          <a:noFill/>
          <a:ln w="17145">
            <a:solidFill>
              <a:srgbClr val="FFB45C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327648" y="2212848"/>
            <a:ext cx="329184" cy="-457200"/>
          </a:xfrm>
          <a:prstGeom prst="line">
            <a:avLst/>
          </a:prstGeom>
          <a:noFill/>
          <a:ln w="17145">
            <a:solidFill>
              <a:srgbClr val="C8FF5A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327648" y="2359152"/>
            <a:ext cx="329184" cy="493776"/>
          </a:xfrm>
          <a:prstGeom prst="line">
            <a:avLst/>
          </a:prstGeom>
          <a:noFill/>
          <a:ln w="17145">
            <a:solidFill>
              <a:srgbClr val="C8FF5A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522208" y="1755648"/>
            <a:ext cx="530352" cy="457200"/>
          </a:xfrm>
          <a:prstGeom prst="line">
            <a:avLst/>
          </a:prstGeom>
          <a:noFill/>
          <a:ln w="17145">
            <a:solidFill>
              <a:srgbClr val="FF6FAE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522208" y="2852928"/>
            <a:ext cx="530352" cy="-493776"/>
          </a:xfrm>
          <a:prstGeom prst="line">
            <a:avLst/>
          </a:prstGeom>
          <a:noFill/>
          <a:ln w="17145">
            <a:solidFill>
              <a:srgbClr val="38D5FF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1828800" y="510235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data/src → jobs → archive → dst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847088" y="55046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9C8"/>
                </a:solidFill>
              </a:rPr>
              <a:t>统一目录约定让任务可追踪、可重跑、可排障。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064240" y="6199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8368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 AI WORKBENCH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9052560" y="-914400"/>
            <a:ext cx="4389120" cy="4389120"/>
          </a:xfrm>
          <a:prstGeom prst="arc">
            <a:avLst/>
          </a:prstGeom>
          <a:noFill/>
          <a:ln w="15240">
            <a:solidFill>
              <a:srgbClr val="38D5F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-914400" y="4480560"/>
            <a:ext cx="3840480" cy="3840480"/>
          </a:xfrm>
          <a:prstGeom prst="arc">
            <a:avLst/>
          </a:prstGeom>
          <a:noFill/>
          <a:ln w="12700">
            <a:solidFill>
              <a:srgbClr val="67F2B0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355080"/>
            <a:ext cx="11155680" cy="0"/>
          </a:xfrm>
          <a:prstGeom prst="line">
            <a:avLst/>
          </a:prstGeom>
          <a:noFill/>
          <a:ln w="10160">
            <a:solidFill>
              <a:srgbClr val="24445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7665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</a:rPr>
              <a:t>本地模型分层：轻任务快跑，重任务深算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9C8"/>
                </a:solidFill>
              </a:rPr>
              <a:t>同一个 OpenAI 兼容接口风格，按任务成本选择不同模型。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4983480"/>
            <a:ext cx="2606040" cy="0"/>
          </a:xfrm>
          <a:prstGeom prst="line">
            <a:avLst/>
          </a:prstGeom>
          <a:noFill/>
          <a:ln w="101600">
            <a:solidFill>
              <a:srgbClr val="67F2B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202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7F2B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1.5B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322576" y="22219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:9080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AFC"/>
                </a:solidFill>
              </a:rPr>
              <a:t>轻量分类 / 短摘要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401568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B9C8"/>
                </a:solidFill>
              </a:rPr>
              <a:t>OpenAI-compatible / MLX / 本机运行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17720" y="4270248"/>
            <a:ext cx="2606040" cy="0"/>
          </a:xfrm>
          <a:prstGeom prst="line">
            <a:avLst/>
          </a:prstGeom>
          <a:noFill/>
          <a:ln w="101600">
            <a:solidFill>
              <a:srgbClr val="FFB45C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0299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4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27B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025896" y="2331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:9081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28803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AFC"/>
                </a:solidFill>
              </a:rPr>
              <a:t>日常问答 / 一般摘要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17720" y="3401568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B9C8"/>
                </a:solidFill>
              </a:rPr>
              <a:t>OpenAI-compatible / MLX / 本机运行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321040" y="3557016"/>
            <a:ext cx="2606040" cy="0"/>
          </a:xfrm>
          <a:prstGeom prst="line">
            <a:avLst/>
          </a:prstGeom>
          <a:noFill/>
          <a:ln w="101600">
            <a:solidFill>
              <a:srgbClr val="38D5FF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13969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D5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70B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729216" y="2441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:9082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28803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7FAFC"/>
                </a:solidFill>
              </a:rPr>
              <a:t>会议纪要 / 深度分析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21040" y="3401568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B9C8"/>
                </a:solidFill>
              </a:rPr>
              <a:t>OpenAI-compatible / MLX / 本机运行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6112" y="5577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FF5A"/>
                </a:solidFill>
              </a:rPr>
              <a:t>统一测试问题：地球到太阳的距离是多少？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064240" y="6199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8368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 AI WORKBENCH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B"/>
          </a:solidFill>
          <a:ln w="12700">
            <a:solidFill>
              <a:srgbClr val="0C1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9052560" y="-914400"/>
            <a:ext cx="4389120" cy="4389120"/>
          </a:xfrm>
          <a:prstGeom prst="arc">
            <a:avLst/>
          </a:prstGeom>
          <a:noFill/>
          <a:ln w="15240">
            <a:solidFill>
              <a:srgbClr val="38D5F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-914400" y="4480560"/>
            <a:ext cx="3840480" cy="3840480"/>
          </a:xfrm>
          <a:prstGeom prst="arc">
            <a:avLst/>
          </a:prstGeom>
          <a:noFill/>
          <a:ln w="12700">
            <a:solidFill>
              <a:srgbClr val="67F2B0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355080"/>
            <a:ext cx="11155680" cy="0"/>
          </a:xfrm>
          <a:prstGeom prst="line">
            <a:avLst/>
          </a:prstGeom>
          <a:noFill/>
          <a:ln w="10160">
            <a:solidFill>
              <a:srgbClr val="24445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7665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</a:rPr>
              <a:t>文档库不只存文件，还自动理解来源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9C8"/>
                </a:solidFill>
              </a:rPr>
              <a:t>Paperless-ngx 负责归档、OCR 和检索，消费脚本负责给每个新文档打上来源标签。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057400"/>
            <a:ext cx="201168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67F2B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203704"/>
            <a:ext cx="164592" cy="164592"/>
          </a:xfrm>
          <a:prstGeom prst="ellipse">
            <a:avLst/>
          </a:prstGeom>
          <a:solidFill>
            <a:srgbClr val="67F2B0"/>
          </a:solidFill>
          <a:ln w="12700">
            <a:solidFill>
              <a:srgbClr val="67F2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218541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音频转写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389888" y="244144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_asr / 语音 / voice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005840" y="3154680"/>
            <a:ext cx="201168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FFB45C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5568" y="3300984"/>
            <a:ext cx="164592" cy="164592"/>
          </a:xfrm>
          <a:prstGeom prst="ellipse">
            <a:avLst/>
          </a:prstGeom>
          <a:solidFill>
            <a:srgbClr val="FFB45C"/>
          </a:solidFill>
          <a:ln w="12700">
            <a:solidFill>
              <a:srgbClr val="FFB4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9888" y="328269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图片资料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389888" y="353872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image / scan / 图片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005840" y="4251960"/>
            <a:ext cx="201168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6C8CFF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5568" y="4398264"/>
            <a:ext cx="164592" cy="164592"/>
          </a:xfrm>
          <a:prstGeom prst="ellipse">
            <a:avLst/>
          </a:prstGeom>
          <a:solidFill>
            <a:srgbClr val="6C8CFF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4379976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文字文档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389888" y="463600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txt / docx / xlsx / pdf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3182112" y="2395728"/>
            <a:ext cx="1389888" cy="694944"/>
          </a:xfrm>
          <a:prstGeom prst="line">
            <a:avLst/>
          </a:prstGeom>
          <a:noFill/>
          <a:ln w="17145">
            <a:solidFill>
              <a:srgbClr val="67F2B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182112" y="3493008"/>
            <a:ext cx="1389888" cy="-219456"/>
          </a:xfrm>
          <a:prstGeom prst="line">
            <a:avLst/>
          </a:prstGeom>
          <a:noFill/>
          <a:ln w="17145">
            <a:solidFill>
              <a:srgbClr val="FFB45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82112" y="4590288"/>
            <a:ext cx="1389888" cy="-1133856"/>
          </a:xfrm>
          <a:prstGeom prst="line">
            <a:avLst/>
          </a:prstGeom>
          <a:noFill/>
          <a:ln w="17145">
            <a:solidFill>
              <a:srgbClr val="6C8C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92040" y="2359152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132A42"/>
          </a:solidFill>
          <a:ln w="15240">
            <a:solidFill>
              <a:srgbClr val="38D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26700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AFC"/>
                </a:solidFill>
              </a:rPr>
              <a:t>来源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38928" y="3127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9B9C8"/>
                </a:solidFill>
              </a:rPr>
              <a:t>音频  /  图片  /  文档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60920" y="3090672"/>
            <a:ext cx="1234440" cy="0"/>
          </a:xfrm>
          <a:prstGeom prst="line">
            <a:avLst/>
          </a:prstGeom>
          <a:noFill/>
          <a:ln w="17145">
            <a:solidFill>
              <a:srgbClr val="38D5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823960" y="2761488"/>
            <a:ext cx="2240280" cy="694944"/>
          </a:xfrm>
          <a:prstGeom prst="roundRect">
            <a:avLst>
              <a:gd name="adj" fmla="val 7895"/>
            </a:avLst>
          </a:prstGeom>
          <a:solidFill>
            <a:srgbClr val="102338">
              <a:alpha val="96000"/>
            </a:srgbClr>
          </a:solidFill>
          <a:ln w="13970">
            <a:solidFill>
              <a:srgbClr val="C8FF5A">
                <a:alpha val="9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33688" y="2907792"/>
            <a:ext cx="164592" cy="164592"/>
          </a:xfrm>
          <a:prstGeom prst="ellipse">
            <a:avLst/>
          </a:prstGeom>
          <a:solidFill>
            <a:srgbClr val="C8FF5A"/>
          </a:solidFill>
          <a:ln w="12700">
            <a:solidFill>
              <a:srgbClr val="C8FF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08008" y="288950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7FAFC"/>
                </a:solidFill>
              </a:rPr>
              <a:t>可检索资产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208008" y="314553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A9B9C8"/>
                </a:solidFill>
              </a:rPr>
              <a:t>全文检索 / 来源筛选 / 长期沉淀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1024128" y="555955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B9C8"/>
                </a:solidFill>
              </a:rPr>
              <a:t>自动跳过音频、视频、日志、JSON 等噪声文件，保留真正进入知识库的内容。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11064240" y="6199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8368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 AI WORKBENCH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9052560" y="-914400"/>
            <a:ext cx="4389120" cy="4389120"/>
          </a:xfrm>
          <a:prstGeom prst="arc">
            <a:avLst/>
          </a:prstGeom>
          <a:noFill/>
          <a:ln w="15240">
            <a:solidFill>
              <a:srgbClr val="38D5F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-914400" y="4480560"/>
            <a:ext cx="3840480" cy="3840480"/>
          </a:xfrm>
          <a:prstGeom prst="arc">
            <a:avLst/>
          </a:prstGeom>
          <a:noFill/>
          <a:ln w="12700">
            <a:solidFill>
              <a:srgbClr val="67F2B0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355080"/>
            <a:ext cx="11155680" cy="0"/>
          </a:xfrm>
          <a:prstGeom prst="line">
            <a:avLst/>
          </a:prstGeom>
          <a:noFill/>
          <a:ln w="10160">
            <a:solidFill>
              <a:srgbClr val="24445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67665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7FAFC"/>
                </a:solidFill>
              </a:rPr>
              <a:t>它带来的不是“又一个工具”，而是工作方式升级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9C8"/>
                </a:solidFill>
              </a:rPr>
              <a:t>个人和小团队都能用一套可控系统，把分散素材变成可复用的知识资产。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F2B0"/>
                </a:solidFill>
              </a:rPr>
              <a:t>更快沉淀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432304"/>
            <a:ext cx="713232" cy="0"/>
          </a:xfrm>
          <a:prstGeom prst="line">
            <a:avLst/>
          </a:prstGeom>
          <a:noFill/>
          <a:ln w="25400">
            <a:solidFill>
              <a:srgbClr val="67F2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AFC"/>
                </a:solidFill>
              </a:rPr>
              <a:t>微信语音自动转写成文档，不再手工搬运。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D5FF"/>
                </a:solidFill>
              </a:rPr>
              <a:t>更好检索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2432304"/>
            <a:ext cx="713232" cy="0"/>
          </a:xfrm>
          <a:prstGeom prst="line">
            <a:avLst/>
          </a:prstGeom>
          <a:noFill/>
          <a:ln w="25400">
            <a:solidFill>
              <a:srgbClr val="38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70662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AFC"/>
                </a:solidFill>
              </a:rPr>
              <a:t>Paperless 统一归档、OCR、全文检索和来源筛选。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C"/>
                </a:solidFill>
              </a:rPr>
              <a:t>更可控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352544"/>
            <a:ext cx="713232" cy="0"/>
          </a:xfrm>
          <a:prstGeom prst="line">
            <a:avLst/>
          </a:prstGeom>
          <a:noFill/>
          <a:ln w="25400">
            <a:solidFill>
              <a:srgbClr val="FFB4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2686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AFC"/>
                </a:solidFill>
              </a:rPr>
              <a:t>本地模型、本地目录、本地服务，敏感资料少外流。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F5A"/>
                </a:solidFill>
              </a:rPr>
              <a:t>更可扩展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4352544"/>
            <a:ext cx="713232" cy="0"/>
          </a:xfrm>
          <a:prstGeom prst="line">
            <a:avLst/>
          </a:prstGeom>
          <a:noFill/>
          <a:ln w="25400">
            <a:solidFill>
              <a:srgbClr val="C8F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462686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AFC"/>
                </a:solidFill>
              </a:rPr>
              <a:t>n8n、OpenAI 兼容接口和清晰目录约定方便接新流程。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064240" y="6199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 AI WORKBENCH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F"/>
          </a:solidFill>
          <a:ln w="12700">
            <a:solidFill>
              <a:srgbClr val="08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B"/>
          </a:solidFill>
          <a:ln w="12700">
            <a:solidFill>
              <a:srgbClr val="0C1B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9052560" y="-914400"/>
            <a:ext cx="4389120" cy="4389120"/>
          </a:xfrm>
          <a:prstGeom prst="arc">
            <a:avLst/>
          </a:prstGeom>
          <a:noFill/>
          <a:ln w="15240">
            <a:solidFill>
              <a:srgbClr val="38D5F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600000">
            <a:off x="-914400" y="4480560"/>
            <a:ext cx="3840480" cy="3840480"/>
          </a:xfrm>
          <a:prstGeom prst="arc">
            <a:avLst/>
          </a:prstGeom>
          <a:noFill/>
          <a:ln w="12700">
            <a:solidFill>
              <a:srgbClr val="67F2B0">
                <a:alpha val="3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6355080"/>
            <a:ext cx="11155680" cy="0"/>
          </a:xfrm>
          <a:prstGeom prst="line">
            <a:avLst/>
          </a:prstGeom>
          <a:noFill/>
          <a:ln w="10160">
            <a:solidFill>
              <a:srgbClr val="24445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7498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B4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FROM FILES TO KNOWLEDGE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</a:rPr>
              <a:t>让每一条语音、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</a:rPr>
              <a:t>每一张图片、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</a:rPr>
              <a:t>每一份文档，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</a:rPr>
              <a:t>都自动进入知识库。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9808" y="42062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A9B9C8"/>
                </a:solidFill>
              </a:rPr>
              <a:t>下一步：接入更多输入源、完善 n8n 工作流、把 Paperless 检索和本地模型问答合并成一个日常入口。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8046720" y="1051560"/>
            <a:ext cx="694944" cy="694944"/>
          </a:xfrm>
          <a:prstGeom prst="ellipse">
            <a:avLst/>
          </a:prstGeom>
          <a:solidFill>
            <a:srgbClr val="67F2B0"/>
          </a:solidFill>
          <a:ln w="12700">
            <a:solidFill>
              <a:srgbClr val="67F2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36992" y="19293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7FAFC"/>
                </a:solidFill>
              </a:rPr>
              <a:t>输入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8394192" y="1399032"/>
            <a:ext cx="1691640" cy="1097280"/>
          </a:xfrm>
          <a:prstGeom prst="line">
            <a:avLst/>
          </a:prstGeom>
          <a:noFill/>
          <a:ln w="17145">
            <a:solidFill>
              <a:srgbClr val="67F2B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738360" y="2148840"/>
            <a:ext cx="694944" cy="694944"/>
          </a:xfrm>
          <a:prstGeom prst="ellipse">
            <a:avLst/>
          </a:prstGeom>
          <a:solidFill>
            <a:srgbClr val="FFB45C"/>
          </a:solidFill>
          <a:ln w="12700">
            <a:solidFill>
              <a:srgbClr val="FFB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8632" y="3026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7FAFC"/>
                </a:solidFill>
              </a:rPr>
              <a:t>处理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0085832" y="2496312"/>
            <a:ext cx="-365760" cy="2103120"/>
          </a:xfrm>
          <a:prstGeom prst="line">
            <a:avLst/>
          </a:prstGeom>
          <a:noFill/>
          <a:ln w="17145">
            <a:solidFill>
              <a:srgbClr val="FFB45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72600" y="4251960"/>
            <a:ext cx="694944" cy="694944"/>
          </a:xfrm>
          <a:prstGeom prst="ellipse">
            <a:avLst/>
          </a:prstGeom>
          <a:solidFill>
            <a:srgbClr val="38D5FF"/>
          </a:solidFill>
          <a:ln w="12700">
            <a:solidFill>
              <a:srgbClr val="38D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51297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7FAFC"/>
                </a:solidFill>
              </a:rPr>
              <a:t>理解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9720072" y="4599432"/>
            <a:ext cx="-2103120" cy="210312"/>
          </a:xfrm>
          <a:prstGeom prst="line">
            <a:avLst/>
          </a:prstGeom>
          <a:noFill/>
          <a:ln w="17145">
            <a:solidFill>
              <a:srgbClr val="38D5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4462272"/>
            <a:ext cx="694944" cy="694944"/>
          </a:xfrm>
          <a:prstGeom prst="ellipse">
            <a:avLst/>
          </a:prstGeom>
          <a:solidFill>
            <a:srgbClr val="C8FF5A"/>
          </a:solidFill>
          <a:ln w="12700">
            <a:solidFill>
              <a:srgbClr val="C8F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9752" y="5340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7FAFC"/>
                </a:solidFill>
              </a:rPr>
              <a:t>检索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616952" y="4809744"/>
            <a:ext cx="-612648" cy="-2130552"/>
          </a:xfrm>
          <a:prstGeom prst="line">
            <a:avLst/>
          </a:prstGeom>
          <a:noFill/>
          <a:ln w="17145">
            <a:solidFill>
              <a:srgbClr val="C8FF5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56832" y="2331720"/>
            <a:ext cx="694944" cy="694944"/>
          </a:xfrm>
          <a:prstGeom prst="ellipse">
            <a:avLst/>
          </a:prstGeom>
          <a:solidFill>
            <a:srgbClr val="6C8CFF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209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7FAFC"/>
                </a:solidFill>
              </a:rPr>
              <a:t>沉淀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004304" y="2679192"/>
            <a:ext cx="1389888" cy="-1280160"/>
          </a:xfrm>
          <a:prstGeom prst="line">
            <a:avLst/>
          </a:prstGeom>
          <a:noFill/>
          <a:ln w="17145">
            <a:solidFill>
              <a:srgbClr val="6C8CF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1064240" y="6199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8368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9C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LOCAL AI WORKBENCH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Local AI Workbench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本地 AI 工作台</dc:title>
  <dc:subject>本地 AI 工作台宣传介绍</dc:subject>
  <dc:creator>Codex</dc:creator>
  <cp:lastModifiedBy>Codex</cp:lastModifiedBy>
  <cp:revision>1</cp:revision>
  <dcterms:created xsi:type="dcterms:W3CDTF">2026-04-28T18:05:14Z</dcterms:created>
  <dcterms:modified xsi:type="dcterms:W3CDTF">2026-04-28T18:05:14Z</dcterms:modified>
</cp:coreProperties>
</file>